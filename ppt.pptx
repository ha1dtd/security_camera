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4" r:id="rId3"/>
    <p:sldId id="257" r:id="rId4"/>
    <p:sldId id="265" r:id="rId5"/>
    <p:sldId id="260" r:id="rId6"/>
    <p:sldId id="266" r:id="rId7"/>
    <p:sldId id="259" r:id="rId8"/>
    <p:sldId id="267" r:id="rId9"/>
    <p:sldId id="262" r:id="rId10"/>
    <p:sldId id="268" r:id="rId11"/>
    <p:sldId id="263" r:id="rId12"/>
    <p:sldId id="269" r:id="rId13"/>
    <p:sldId id="271" r:id="rId14"/>
    <p:sldId id="273" r:id="rId15"/>
    <p:sldId id="270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86C8-F5EB-82B2-4406-C25F97813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9D2FF-398D-2AD8-2B4E-EF4E04418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88B8A-9010-C7F0-AA16-0179E21C5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389E1-32C9-229A-62B5-568F1F6C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589D-A36E-9648-1060-842E45A29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126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019D-3DB8-1ED2-9024-39A4F972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0640B-3473-1531-90CD-A915283A9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ADD21-8A3A-54B8-C52B-31224E68D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BD4BC-D4E2-6B93-6D45-E06B154A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9F0FD-0734-950D-A1D2-AE1458ED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737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B31C-9936-E2B9-F150-43676901B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E7FD1-C488-E379-260E-EA1E882DE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3690B-DF36-3D52-117C-14EE5598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0B432-D626-B562-3C09-E9DD3737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8302-14D7-EA3D-7A3C-24F4AD61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1326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3752-7350-3DB6-F83C-772C14E3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4964-1481-B2AD-5C0C-7E58D19D1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63B2E-261E-E4AE-110D-F362D4DAF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B1975-78E9-B9B7-18C5-AF6CC77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E1957-77AA-E713-8B4B-027CBE8F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4EBBC-79D8-B16D-99A5-7E9A48EB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229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8630-BCA3-515E-58A7-DDC916300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EE767-442F-ADDB-29CA-06AEDB705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02C95-2C64-EDA8-9068-01F8BCA96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2A395-A1AB-304C-3A92-3AF108C2B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3D67D-9C22-753D-2B96-8B6B0C555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D3359-71CB-7818-7D77-A8C3BDA4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C6FAC-0198-5217-43E9-5B9B68C5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7D863-84BA-3045-98A0-73F09241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04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F6A6F-959E-B82A-27F5-96A9052E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7CF60-DCD5-AC81-DF48-476C0E7E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AF34B-D96C-4891-EC4C-DE7A4B94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5B169-492C-C64F-CF02-E17281CE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7923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5BB5D-E3D0-873A-BC7E-DB5ACF319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82169-B7ED-3EEF-13A0-DF709A2A3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E932A-4C70-ECE3-F932-29153204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802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7544-AD74-FEE9-78AB-5E72C7AFF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7278A-40E2-6259-904A-B1313B6A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AAF22-7E30-F6E4-A421-DDBB716D3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C0A14-4560-B636-0DA1-D3BDE58E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A8CC9-20A6-B1C7-300B-7FE1555B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C1E0D-B410-800B-5F00-2EA35878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6880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15566-A67E-EFFF-A738-EB158933A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EACAB-D25C-D35B-5C59-24893D2A4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A36F8-9D41-BA77-6178-91747784B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AFCDE-84E6-199F-D83D-54BA2783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A965A-C649-3539-A70C-E5F1AAA8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2DECA-E4FB-7F63-CF10-760782CC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433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0D10-4F90-EEF6-3132-1A5E9775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85FD5-27EB-F49B-6581-A537FDA23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007FC-D85A-38C3-D935-533CC8B2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317D5-699C-AFDF-075B-2131CA06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1C534-F4CA-B6EA-708D-F03F9114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729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F6B46-61BA-91E6-6F9C-ECADAB06B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B2849-B128-E741-D0E3-C485C5D03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60AA-9629-07C8-3B27-84F5ED9A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14D50-41B3-DD8F-8261-BD90B1FF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72D87-7A9E-77B2-8563-827E0EF4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489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24C88-5C9B-7A61-9D07-C211DF9B9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F6CA1-6E15-D730-5142-5B4811AFF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C5D4C-74FD-972B-3171-D6D7F2412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FE615-C60F-4316-9760-882416F735AB}" type="datetimeFigureOut">
              <a:rPr lang="vi-VN" smtClean="0"/>
              <a:t>18/10/2025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CE4FB-2E81-BF34-8F1B-89FCAF8CE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F90F-3D98-D9D1-2BDD-7C18D27DF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32CF9-8C75-4195-8754-3AA1D94DFCD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463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0+ hình nền Powepoint đẹp cho bài thuyết trình thu hút">
            <a:extLst>
              <a:ext uri="{FF2B5EF4-FFF2-40B4-BE49-F238E27FC236}">
                <a16:creationId xmlns:a16="http://schemas.microsoft.com/office/drawing/2014/main" id="{4D767083-A07E-0761-851D-31CB01B85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302106-A853-7D53-A035-35F127257212}"/>
              </a:ext>
            </a:extLst>
          </p:cNvPr>
          <p:cNvSpPr txBox="1"/>
          <p:nvPr/>
        </p:nvSpPr>
        <p:spPr>
          <a:xfrm>
            <a:off x="1111622" y="1526466"/>
            <a:ext cx="8641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600" dirty="0">
                <a:solidFill>
                  <a:schemeClr val="bg1"/>
                </a:solidFill>
                <a:latin typeface="Berlin Sans FB Demi" panose="020E0802020502020306" pitchFamily="34" charset="0"/>
              </a:rPr>
              <a:t>GROUP </a:t>
            </a:r>
            <a:r>
              <a:rPr lang="en-US" sz="5400" dirty="0">
                <a:solidFill>
                  <a:schemeClr val="bg1"/>
                </a:solidFill>
                <a:latin typeface="Berlin Sans FB Demi" panose="020E0802020502020306" pitchFamily="34" charset="0"/>
              </a:rPr>
              <a:t>31</a:t>
            </a:r>
            <a:r>
              <a:rPr lang="en-US" sz="5600" dirty="0">
                <a:solidFill>
                  <a:schemeClr val="bg1"/>
                </a:solidFill>
                <a:latin typeface="Berlin Sans FB Demi" panose="020E0802020502020306" pitchFamily="34" charset="0"/>
              </a:rPr>
              <a:t> PRESENTATION</a:t>
            </a:r>
            <a:endParaRPr lang="vi-VN" sz="5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60463-0821-826E-E9DD-C31CDF63152B}"/>
              </a:ext>
            </a:extLst>
          </p:cNvPr>
          <p:cNvSpPr txBox="1"/>
          <p:nvPr/>
        </p:nvSpPr>
        <p:spPr>
          <a:xfrm>
            <a:off x="4473388" y="2919535"/>
            <a:ext cx="19184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Topic</a:t>
            </a:r>
            <a:endParaRPr lang="vi-VN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DB3F7-60D2-B87B-5A11-4AD5588C0715}"/>
              </a:ext>
            </a:extLst>
          </p:cNvPr>
          <p:cNvSpPr txBox="1"/>
          <p:nvPr/>
        </p:nvSpPr>
        <p:spPr>
          <a:xfrm>
            <a:off x="2277034" y="4007039"/>
            <a:ext cx="63111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 dirty="0">
                <a:solidFill>
                  <a:schemeClr val="bg1"/>
                </a:solidFill>
              </a:rPr>
              <a:t>Security</a:t>
            </a:r>
            <a:r>
              <a:rPr lang="vi-VN" b="1" dirty="0">
                <a:solidFill>
                  <a:schemeClr val="bg1"/>
                </a:solidFill>
              </a:rPr>
              <a:t> </a:t>
            </a:r>
            <a:r>
              <a:rPr lang="vi-VN" sz="6000" b="1" dirty="0">
                <a:solidFill>
                  <a:schemeClr val="bg1"/>
                </a:solidFill>
              </a:rPr>
              <a:t>Camera</a:t>
            </a:r>
          </a:p>
        </p:txBody>
      </p:sp>
    </p:spTree>
    <p:extLst>
      <p:ext uri="{BB962C8B-B14F-4D97-AF65-F5344CB8AC3E}">
        <p14:creationId xmlns:p14="http://schemas.microsoft.com/office/powerpoint/2010/main" val="199911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ông nghệ hình nền powerpoint công nghệ tạo điểm nhấn cho bài thuyết trình  của bạn">
            <a:extLst>
              <a:ext uri="{FF2B5EF4-FFF2-40B4-BE49-F238E27FC236}">
                <a16:creationId xmlns:a16="http://schemas.microsoft.com/office/drawing/2014/main" id="{943A9057-CA34-7E98-5104-3C6D9239F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568"/>
            <a:ext cx="12235676" cy="688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140BC1-829A-4DF3-D40F-D53DEDEC5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251" y="453193"/>
            <a:ext cx="2704647" cy="5951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655C41-5F6F-F08A-A5AD-5EC80CF401D0}"/>
              </a:ext>
            </a:extLst>
          </p:cNvPr>
          <p:cNvSpPr txBox="1"/>
          <p:nvPr/>
        </p:nvSpPr>
        <p:spPr>
          <a:xfrm>
            <a:off x="419552" y="1614505"/>
            <a:ext cx="6459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chemeClr val="bg1"/>
                </a:solidFill>
              </a:rPr>
              <a:t>#1. </a:t>
            </a:r>
            <a:r>
              <a:rPr lang="en-US" sz="2800" b="1" dirty="0">
                <a:solidFill>
                  <a:schemeClr val="bg1"/>
                </a:solidFill>
              </a:rPr>
              <a:t>VIEW LIVE CAMERA &amp; TAKE PICTURES</a:t>
            </a:r>
            <a:endParaRPr lang="vi-VN" sz="28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967B8-5AE3-43CA-F3CE-2D16F665107F}"/>
              </a:ext>
            </a:extLst>
          </p:cNvPr>
          <p:cNvSpPr txBox="1"/>
          <p:nvPr/>
        </p:nvSpPr>
        <p:spPr>
          <a:xfrm>
            <a:off x="419552" y="2256584"/>
            <a:ext cx="6894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chemeClr val="bg1"/>
                </a:solidFill>
              </a:rPr>
              <a:t>#2. </a:t>
            </a:r>
            <a:r>
              <a:rPr lang="en-US" sz="2800" b="1" dirty="0">
                <a:solidFill>
                  <a:schemeClr val="bg1"/>
                </a:solidFill>
              </a:rPr>
              <a:t>SAVE PHOTO TO APPLICATION MEMORY</a:t>
            </a:r>
            <a:endParaRPr lang="vi-VN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69D8E-05D6-3688-C438-915253E7137C}"/>
              </a:ext>
            </a:extLst>
          </p:cNvPr>
          <p:cNvSpPr txBox="1"/>
          <p:nvPr/>
        </p:nvSpPr>
        <p:spPr>
          <a:xfrm>
            <a:off x="419552" y="2875724"/>
            <a:ext cx="6445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chemeClr val="bg1"/>
                </a:solidFill>
              </a:rPr>
              <a:t>#3. </a:t>
            </a:r>
            <a:r>
              <a:rPr lang="en-US" sz="2800" b="1" dirty="0">
                <a:solidFill>
                  <a:schemeClr val="bg1"/>
                </a:solidFill>
              </a:rPr>
              <a:t>PHOTO GALLERY (PLAYBACK)</a:t>
            </a:r>
            <a:endParaRPr lang="vi-VN" sz="28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30695-1558-6A70-620C-073155F81558}"/>
              </a:ext>
            </a:extLst>
          </p:cNvPr>
          <p:cNvSpPr txBox="1"/>
          <p:nvPr/>
        </p:nvSpPr>
        <p:spPr>
          <a:xfrm>
            <a:off x="419552" y="3494864"/>
            <a:ext cx="6894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chemeClr val="bg1"/>
                </a:solidFill>
              </a:rPr>
              <a:t>#4. </a:t>
            </a:r>
            <a:r>
              <a:rPr lang="en-US" sz="2800" b="1" dirty="0">
                <a:solidFill>
                  <a:schemeClr val="bg1"/>
                </a:solidFill>
              </a:rPr>
              <a:t>PHOTO SHARING &amp; 3 TAB NAVIGATION</a:t>
            </a:r>
            <a:endParaRPr lang="vi-VN" sz="28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D8498-42F1-E6BE-179B-10EE4CAE5EF2}"/>
              </a:ext>
            </a:extLst>
          </p:cNvPr>
          <p:cNvSpPr txBox="1"/>
          <p:nvPr/>
        </p:nvSpPr>
        <p:spPr>
          <a:xfrm>
            <a:off x="419552" y="4114004"/>
            <a:ext cx="8676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chemeClr val="bg1"/>
                </a:solidFill>
              </a:rPr>
              <a:t>#5. </a:t>
            </a:r>
            <a:r>
              <a:rPr lang="en-US" sz="2800" b="1" dirty="0">
                <a:solidFill>
                  <a:schemeClr val="bg1"/>
                </a:solidFill>
              </a:rPr>
              <a:t>GLOBAL STATE MANAGEMENT (APPSTATE/PROVIDER)</a:t>
            </a:r>
            <a:endParaRPr lang="vi-V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18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00+ hình nền PowerPoint tin học đẹp, chất lượng cao">
            <a:extLst>
              <a:ext uri="{FF2B5EF4-FFF2-40B4-BE49-F238E27FC236}">
                <a16:creationId xmlns:a16="http://schemas.microsoft.com/office/drawing/2014/main" id="{E35D312E-48C0-75C4-4A02-FE66A7F40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720745-F903-F268-0FAE-089265195CF1}"/>
              </a:ext>
            </a:extLst>
          </p:cNvPr>
          <p:cNvSpPr txBox="1"/>
          <p:nvPr/>
        </p:nvSpPr>
        <p:spPr>
          <a:xfrm>
            <a:off x="2873188" y="2228671"/>
            <a:ext cx="64456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000" b="1" dirty="0">
                <a:solidFill>
                  <a:schemeClr val="bg1"/>
                </a:solidFill>
              </a:rPr>
              <a:t>#1. </a:t>
            </a:r>
            <a:r>
              <a:rPr lang="en-US" sz="5000" b="1" dirty="0">
                <a:solidFill>
                  <a:schemeClr val="bg1"/>
                </a:solidFill>
              </a:rPr>
              <a:t>VIEW LIVE CAMERA &amp; </a:t>
            </a:r>
          </a:p>
          <a:p>
            <a:pPr algn="ctr"/>
            <a:r>
              <a:rPr lang="en-US" sz="5000" b="1" dirty="0">
                <a:solidFill>
                  <a:schemeClr val="bg1"/>
                </a:solidFill>
              </a:rPr>
              <a:t>TAKE PICTURES</a:t>
            </a:r>
            <a:endParaRPr lang="vi-VN" sz="5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52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Hình nền Powerpoint Kinh Doanh Công Nghệ Điện Tử Mát Mẻ miễn phí -  Slidesdocs">
            <a:extLst>
              <a:ext uri="{FF2B5EF4-FFF2-40B4-BE49-F238E27FC236}">
                <a16:creationId xmlns:a16="http://schemas.microsoft.com/office/drawing/2014/main" id="{698F4ADF-E5F3-D543-E2C0-C292DB8664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2357718" cy="235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9224" name="Picture 8" descr="Top 50 Background Powerpoint công nghệ đẹp nhất cho bài thuyết trình | ADV  Solutions">
            <a:extLst>
              <a:ext uri="{FF2B5EF4-FFF2-40B4-BE49-F238E27FC236}">
                <a16:creationId xmlns:a16="http://schemas.microsoft.com/office/drawing/2014/main" id="{59DDA077-F360-E2B0-AC42-349226E5E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4DDDF9-F453-4770-B10A-2248114DEA71}"/>
              </a:ext>
            </a:extLst>
          </p:cNvPr>
          <p:cNvSpPr txBox="1"/>
          <p:nvPr/>
        </p:nvSpPr>
        <p:spPr>
          <a:xfrm>
            <a:off x="153521" y="259363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Objective: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1E8C4-56E5-62CB-0F2F-368930954997}"/>
              </a:ext>
            </a:extLst>
          </p:cNvPr>
          <p:cNvSpPr txBox="1"/>
          <p:nvPr/>
        </p:nvSpPr>
        <p:spPr>
          <a:xfrm>
            <a:off x="614084" y="967249"/>
            <a:ext cx="57060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Display live images from the device camera and take photos.</a:t>
            </a:r>
            <a:endParaRPr lang="vi-VN" sz="20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97354A-F817-F047-5ED2-E4B097D35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772" y="346663"/>
            <a:ext cx="2801470" cy="61646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5A1E7B-D502-406A-A260-D64135E79D33}"/>
              </a:ext>
            </a:extLst>
          </p:cNvPr>
          <p:cNvSpPr txBox="1"/>
          <p:nvPr/>
        </p:nvSpPr>
        <p:spPr>
          <a:xfrm>
            <a:off x="153521" y="1765289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Main content: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0DE95C-E406-4707-9134-9E0D0A135C5B}"/>
              </a:ext>
            </a:extLst>
          </p:cNvPr>
          <p:cNvSpPr txBox="1"/>
          <p:nvPr/>
        </p:nvSpPr>
        <p:spPr>
          <a:xfrm>
            <a:off x="625287" y="2563329"/>
            <a:ext cx="60926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 the camera plugin to control the camera via </a:t>
            </a:r>
            <a:r>
              <a:rPr lang="en-US" dirty="0" err="1">
                <a:solidFill>
                  <a:schemeClr val="bg1"/>
                </a:solidFill>
              </a:rPr>
              <a:t>CameraController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When the user clicks “Take a photo”, the controller calls </a:t>
            </a:r>
            <a:r>
              <a:rPr lang="en-US" dirty="0" err="1">
                <a:solidFill>
                  <a:schemeClr val="bg1"/>
                </a:solidFill>
              </a:rPr>
              <a:t>takePicture</a:t>
            </a:r>
            <a:r>
              <a:rPr lang="en-US" dirty="0">
                <a:solidFill>
                  <a:schemeClr val="bg1"/>
                </a:solidFill>
              </a:rPr>
              <a:t>() → the result is passed to </a:t>
            </a:r>
            <a:r>
              <a:rPr lang="en-US" dirty="0" err="1">
                <a:solidFill>
                  <a:schemeClr val="bg1"/>
                </a:solidFill>
              </a:rPr>
              <a:t>SnapshotSaver.save</a:t>
            </a:r>
            <a:r>
              <a:rPr lang="en-US" dirty="0">
                <a:solidFill>
                  <a:schemeClr val="bg1"/>
                </a:solidFill>
              </a:rPr>
              <a:t>() to save the photo.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 err="1">
                <a:solidFill>
                  <a:schemeClr val="bg1"/>
                </a:solidFill>
              </a:rPr>
              <a:t>LiveView</a:t>
            </a:r>
            <a:r>
              <a:rPr lang="en-US" dirty="0">
                <a:solidFill>
                  <a:schemeClr val="bg1"/>
                </a:solidFill>
              </a:rPr>
              <a:t> screen displays the camera stream, the capture button, and a notification when the photo is saved successfully.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captured photo is added to the photo gallery (Playback).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47072-45B8-B12A-BBFE-3A87BC813604}"/>
              </a:ext>
            </a:extLst>
          </p:cNvPr>
          <p:cNvSpPr txBox="1"/>
          <p:nvPr/>
        </p:nvSpPr>
        <p:spPr>
          <a:xfrm>
            <a:off x="153521" y="5238806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Connection: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A28D2-0FD3-EB40-6C37-7FA040A8AD69}"/>
              </a:ext>
            </a:extLst>
          </p:cNvPr>
          <p:cNvSpPr txBox="1"/>
          <p:nvPr/>
        </p:nvSpPr>
        <p:spPr>
          <a:xfrm>
            <a:off x="625287" y="5946692"/>
            <a:ext cx="615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→ Call directly to snapshot_saver.dart (function #2).</a:t>
            </a:r>
          </a:p>
          <a:p>
            <a:r>
              <a:rPr lang="vi-VN" dirty="0">
                <a:solidFill>
                  <a:schemeClr val="bg1"/>
                </a:solidFill>
              </a:rPr>
              <a:t>→ Display result in GalleryPage (#3).</a:t>
            </a:r>
          </a:p>
        </p:txBody>
      </p:sp>
    </p:spTree>
    <p:extLst>
      <p:ext uri="{BB962C8B-B14F-4D97-AF65-F5344CB8AC3E}">
        <p14:creationId xmlns:p14="http://schemas.microsoft.com/office/powerpoint/2010/main" val="170735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C45E-FA80-0F64-DAD6-EF69AF9E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00+ hình nền PowerPoint tin học đẹp, chất lượng cao">
            <a:extLst>
              <a:ext uri="{FF2B5EF4-FFF2-40B4-BE49-F238E27FC236}">
                <a16:creationId xmlns:a16="http://schemas.microsoft.com/office/drawing/2014/main" id="{CB5D32CD-1E3D-717C-ABA5-69DB4EF1E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AF578A-1789-EF1A-A0A7-49F570C4A171}"/>
              </a:ext>
            </a:extLst>
          </p:cNvPr>
          <p:cNvSpPr txBox="1"/>
          <p:nvPr/>
        </p:nvSpPr>
        <p:spPr>
          <a:xfrm>
            <a:off x="2794747" y="2613392"/>
            <a:ext cx="66025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000" b="1" dirty="0">
                <a:solidFill>
                  <a:schemeClr val="bg1"/>
                </a:solidFill>
              </a:rPr>
              <a:t>#2. </a:t>
            </a:r>
            <a:r>
              <a:rPr lang="en-US" sz="5000" b="1" dirty="0">
                <a:solidFill>
                  <a:schemeClr val="bg1"/>
                </a:solidFill>
              </a:rPr>
              <a:t>SAVE PHOTO TO APPLICATION MEMORY</a:t>
            </a:r>
            <a:endParaRPr lang="vi-VN" sz="5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80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0364-B22D-3A05-0582-258C7ABE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Hình nền Powerpoint Kinh Doanh Công Nghệ Điện Tử Mát Mẻ miễn phí -  Slidesdocs">
            <a:extLst>
              <a:ext uri="{FF2B5EF4-FFF2-40B4-BE49-F238E27FC236}">
                <a16:creationId xmlns:a16="http://schemas.microsoft.com/office/drawing/2014/main" id="{7D935D09-A66F-AE50-1A66-9BC73E799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2357718" cy="235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9224" name="Picture 8" descr="Top 50 Background Powerpoint công nghệ đẹp nhất cho bài thuyết trình | ADV  Solutions">
            <a:extLst>
              <a:ext uri="{FF2B5EF4-FFF2-40B4-BE49-F238E27FC236}">
                <a16:creationId xmlns:a16="http://schemas.microsoft.com/office/drawing/2014/main" id="{A36A18E4-FA2B-9150-6B0F-E9008671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CF82F6-0967-097E-596B-05AF09023BDF}"/>
              </a:ext>
            </a:extLst>
          </p:cNvPr>
          <p:cNvSpPr txBox="1"/>
          <p:nvPr/>
        </p:nvSpPr>
        <p:spPr>
          <a:xfrm>
            <a:off x="296956" y="153446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Objective: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DDE83-FE4F-E7B0-6920-B0BAFFC9BB26}"/>
              </a:ext>
            </a:extLst>
          </p:cNvPr>
          <p:cNvSpPr txBox="1"/>
          <p:nvPr/>
        </p:nvSpPr>
        <p:spPr>
          <a:xfrm>
            <a:off x="757519" y="861332"/>
            <a:ext cx="57060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Create, save and manage photos taken from the camera in the app memory.</a:t>
            </a:r>
            <a:endParaRPr lang="vi-V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71FE32-7ED1-7F4E-81B4-A9A771B87FF8}"/>
              </a:ext>
            </a:extLst>
          </p:cNvPr>
          <p:cNvSpPr txBox="1"/>
          <p:nvPr/>
        </p:nvSpPr>
        <p:spPr>
          <a:xfrm>
            <a:off x="296955" y="1569218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Main content: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406A0-38DD-A8D3-2AFA-55675A28FB7D}"/>
              </a:ext>
            </a:extLst>
          </p:cNvPr>
          <p:cNvSpPr txBox="1"/>
          <p:nvPr/>
        </p:nvSpPr>
        <p:spPr>
          <a:xfrm>
            <a:off x="757518" y="2277104"/>
            <a:ext cx="63755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Core file: lib/utils/</a:t>
            </a:r>
            <a:r>
              <a:rPr lang="en-US" dirty="0" err="1">
                <a:solidFill>
                  <a:schemeClr val="bg1"/>
                </a:solidFill>
              </a:rPr>
              <a:t>snapshot_saver.dart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Automatically creates a “Snapshots” folder inside the application folder (App Storage).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Provides the following functions: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    + save() – writes images (</a:t>
            </a:r>
            <a:r>
              <a:rPr lang="en-US" dirty="0" err="1">
                <a:solidFill>
                  <a:schemeClr val="bg1"/>
                </a:solidFill>
              </a:rPr>
              <a:t>XFile</a:t>
            </a:r>
            <a:r>
              <a:rPr lang="en-US" dirty="0">
                <a:solidFill>
                  <a:schemeClr val="bg1"/>
                </a:solidFill>
              </a:rPr>
              <a:t> → File).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    + </a:t>
            </a:r>
            <a:r>
              <a:rPr lang="en-US" dirty="0" err="1">
                <a:solidFill>
                  <a:schemeClr val="bg1"/>
                </a:solidFill>
              </a:rPr>
              <a:t>listFiles</a:t>
            </a:r>
            <a:r>
              <a:rPr lang="en-US" dirty="0">
                <a:solidFill>
                  <a:schemeClr val="bg1"/>
                </a:solidFill>
              </a:rPr>
              <a:t>() – reads all saved images.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    + delete() – deletes a specific image.	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    + </a:t>
            </a:r>
            <a:r>
              <a:rPr lang="en-US" dirty="0" err="1">
                <a:solidFill>
                  <a:schemeClr val="bg1"/>
                </a:solidFill>
              </a:rPr>
              <a:t>deleteAll</a:t>
            </a:r>
            <a:r>
              <a:rPr lang="en-US" dirty="0">
                <a:solidFill>
                  <a:schemeClr val="bg1"/>
                </a:solidFill>
              </a:rPr>
              <a:t>() – deletes all images.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Does not require runtime permissions (because it is stored in internal memory).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Used by </a:t>
            </a:r>
            <a:r>
              <a:rPr lang="en-US" dirty="0" err="1">
                <a:solidFill>
                  <a:schemeClr val="bg1"/>
                </a:solidFill>
              </a:rPr>
              <a:t>LiveViewPage</a:t>
            </a:r>
            <a:r>
              <a:rPr lang="en-US" dirty="0">
                <a:solidFill>
                  <a:schemeClr val="bg1"/>
                </a:solidFill>
              </a:rPr>
              <a:t> (when capturing) and </a:t>
            </a:r>
            <a:r>
              <a:rPr lang="en-US" dirty="0" err="1">
                <a:solidFill>
                  <a:schemeClr val="bg1"/>
                </a:solidFill>
              </a:rPr>
              <a:t>GalleryPage</a:t>
            </a:r>
            <a:r>
              <a:rPr lang="en-US" dirty="0">
                <a:solidFill>
                  <a:schemeClr val="bg1"/>
                </a:solidFill>
              </a:rPr>
              <a:t> (when displaying/deleting).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B5BA97-F779-B0F3-8219-A1F8DB4057B4}"/>
              </a:ext>
            </a:extLst>
          </p:cNvPr>
          <p:cNvSpPr txBox="1"/>
          <p:nvPr/>
        </p:nvSpPr>
        <p:spPr>
          <a:xfrm>
            <a:off x="296955" y="5511841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Connection: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DBB2D2-E1ED-02C6-E392-913234E026C1}"/>
              </a:ext>
            </a:extLst>
          </p:cNvPr>
          <p:cNvSpPr txBox="1"/>
          <p:nvPr/>
        </p:nvSpPr>
        <p:spPr>
          <a:xfrm>
            <a:off x="768721" y="6219727"/>
            <a:ext cx="615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→ Link to Camera (part 1) and Gallery (part 3).</a:t>
            </a:r>
            <a:endParaRPr lang="vi-VN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8108D-B25F-D0CA-ED88-47FA41BA4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528" y="268941"/>
            <a:ext cx="2887060" cy="632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67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30C3A-244D-2A23-0C93-1D7B1496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00+ hình nền PowerPoint tin học đẹp, chất lượng cao">
            <a:extLst>
              <a:ext uri="{FF2B5EF4-FFF2-40B4-BE49-F238E27FC236}">
                <a16:creationId xmlns:a16="http://schemas.microsoft.com/office/drawing/2014/main" id="{AF89C41A-56A1-4EC5-7C77-A072E8D07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F05982-3CF3-B735-561F-A1CF2E4F30A9}"/>
              </a:ext>
            </a:extLst>
          </p:cNvPr>
          <p:cNvSpPr txBox="1"/>
          <p:nvPr/>
        </p:nvSpPr>
        <p:spPr>
          <a:xfrm>
            <a:off x="2873188" y="2613392"/>
            <a:ext cx="64456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000" b="1" dirty="0">
                <a:solidFill>
                  <a:schemeClr val="bg1"/>
                </a:solidFill>
              </a:rPr>
              <a:t>#3. </a:t>
            </a:r>
            <a:r>
              <a:rPr lang="en-US" sz="5000" b="1" dirty="0">
                <a:solidFill>
                  <a:schemeClr val="bg1"/>
                </a:solidFill>
              </a:rPr>
              <a:t>PHOTO GALLERY (PLAYBACK)</a:t>
            </a:r>
            <a:endParaRPr lang="vi-VN" sz="5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79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92B47-92E2-EBD2-4DF4-C3261B55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Hình nền Powerpoint Kinh Doanh Công Nghệ Điện Tử Mát Mẻ miễn phí -  Slidesdocs">
            <a:extLst>
              <a:ext uri="{FF2B5EF4-FFF2-40B4-BE49-F238E27FC236}">
                <a16:creationId xmlns:a16="http://schemas.microsoft.com/office/drawing/2014/main" id="{79FAEDAF-5914-B5F9-C078-66FFF35203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2357718" cy="235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9224" name="Picture 8" descr="Top 50 Background Powerpoint công nghệ đẹp nhất cho bài thuyết trình | ADV  Solutions">
            <a:extLst>
              <a:ext uri="{FF2B5EF4-FFF2-40B4-BE49-F238E27FC236}">
                <a16:creationId xmlns:a16="http://schemas.microsoft.com/office/drawing/2014/main" id="{99FE6E19-07FE-FA1B-6B0C-0C8E59683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0D841E-5603-B940-1A61-0AF2196BFF49}"/>
              </a:ext>
            </a:extLst>
          </p:cNvPr>
          <p:cNvSpPr txBox="1"/>
          <p:nvPr/>
        </p:nvSpPr>
        <p:spPr>
          <a:xfrm>
            <a:off x="130709" y="596206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Objective: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698D12-5355-F85E-E0F2-AE20B622BD8F}"/>
              </a:ext>
            </a:extLst>
          </p:cNvPr>
          <p:cNvSpPr txBox="1"/>
          <p:nvPr/>
        </p:nvSpPr>
        <p:spPr>
          <a:xfrm>
            <a:off x="592952" y="1291391"/>
            <a:ext cx="46995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Manage and review all captured photos, support deleting, sharing and marking as favorites.</a:t>
            </a:r>
            <a:endParaRPr lang="vi-V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016F7-80DB-5B42-1339-4974D4A5C105}"/>
              </a:ext>
            </a:extLst>
          </p:cNvPr>
          <p:cNvSpPr txBox="1"/>
          <p:nvPr/>
        </p:nvSpPr>
        <p:spPr>
          <a:xfrm>
            <a:off x="130709" y="2160917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Main content: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E294C5-1E1F-F9A3-7F39-24F3EFCC5AC8}"/>
              </a:ext>
            </a:extLst>
          </p:cNvPr>
          <p:cNvSpPr txBox="1"/>
          <p:nvPr/>
        </p:nvSpPr>
        <p:spPr>
          <a:xfrm>
            <a:off x="592952" y="2740589"/>
            <a:ext cx="46995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GalleryPage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ImageViewerPage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Grid views: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FavoritesStore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SharedPreferences</a:t>
            </a:r>
            <a:r>
              <a:rPr lang="en-US" dirty="0">
                <a:solidFill>
                  <a:schemeClr val="bg1"/>
                </a:solidFill>
              </a:rPr>
              <a:t> (data exists after exiting the app).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Automatically delete photos/videos after a specified time</a:t>
            </a:r>
          </a:p>
          <a:p>
            <a:pPr marL="285750" indent="-285750">
              <a:buFontTx/>
              <a:buChar char="-"/>
            </a:pPr>
            <a:r>
              <a:rPr lang="vi-VN" dirty="0">
                <a:solidFill>
                  <a:schemeClr val="bg1"/>
                </a:solidFill>
              </a:rPr>
              <a:t>Link: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    + </a:t>
            </a:r>
            <a:r>
              <a:rPr lang="en-US" dirty="0" err="1">
                <a:solidFill>
                  <a:schemeClr val="bg1"/>
                </a:solidFill>
              </a:rPr>
              <a:t>GalleryPage</a:t>
            </a:r>
            <a:r>
              <a:rPr lang="en-US" dirty="0">
                <a:solidFill>
                  <a:schemeClr val="bg1"/>
                </a:solidFill>
              </a:rPr>
              <a:t> ↔ </a:t>
            </a:r>
            <a:r>
              <a:rPr lang="en-US" dirty="0" err="1">
                <a:solidFill>
                  <a:schemeClr val="bg1"/>
                </a:solidFill>
              </a:rPr>
              <a:t>ImageViewerPage</a:t>
            </a:r>
            <a:r>
              <a:rPr lang="en-US" dirty="0">
                <a:solidFill>
                  <a:schemeClr val="bg1"/>
                </a:solidFill>
              </a:rPr>
              <a:t> (open image).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+ Image Viewer Page ↔ Favorites Store </a:t>
            </a:r>
          </a:p>
          <a:p>
            <a:r>
              <a:rPr lang="en-US" dirty="0">
                <a:solidFill>
                  <a:schemeClr val="bg1"/>
                </a:solidFill>
              </a:rPr>
              <a:t>           (favorite, delete photos).</a:t>
            </a:r>
            <a:endParaRPr lang="vi-V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6D08E-CCE4-ACA8-F8A0-605D3046E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395" y="950149"/>
            <a:ext cx="2327689" cy="49704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DCF3B9-E4AB-6282-8293-A7BF98C07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286" y="943798"/>
            <a:ext cx="2285916" cy="49704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D01A02-958A-F8F0-6AA1-2C25AE499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285" y="950149"/>
            <a:ext cx="2196303" cy="49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7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F746-5BAC-FCDC-FACD-2F0F3226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00+ hình nền PowerPoint tin học đẹp, chất lượng cao">
            <a:extLst>
              <a:ext uri="{FF2B5EF4-FFF2-40B4-BE49-F238E27FC236}">
                <a16:creationId xmlns:a16="http://schemas.microsoft.com/office/drawing/2014/main" id="{484CDF89-DE37-FE52-9D23-239BDA83D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CC3A66-2E7B-C81C-06CA-0CB3F1F47193}"/>
              </a:ext>
            </a:extLst>
          </p:cNvPr>
          <p:cNvSpPr txBox="1"/>
          <p:nvPr/>
        </p:nvSpPr>
        <p:spPr>
          <a:xfrm>
            <a:off x="2873188" y="2228671"/>
            <a:ext cx="64456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000" b="1" dirty="0">
                <a:solidFill>
                  <a:schemeClr val="bg1"/>
                </a:solidFill>
              </a:rPr>
              <a:t>#4. </a:t>
            </a:r>
            <a:r>
              <a:rPr lang="en-US" sz="5000" b="1" dirty="0">
                <a:solidFill>
                  <a:schemeClr val="bg1"/>
                </a:solidFill>
              </a:rPr>
              <a:t>PHOTO SHARING </a:t>
            </a:r>
          </a:p>
          <a:p>
            <a:pPr algn="ctr"/>
            <a:r>
              <a:rPr lang="en-US" sz="5000" b="1" dirty="0">
                <a:solidFill>
                  <a:schemeClr val="bg1"/>
                </a:solidFill>
              </a:rPr>
              <a:t>&amp;</a:t>
            </a:r>
          </a:p>
          <a:p>
            <a:pPr algn="ctr"/>
            <a:r>
              <a:rPr lang="en-US" sz="5000" b="1" dirty="0">
                <a:solidFill>
                  <a:schemeClr val="bg1"/>
                </a:solidFill>
              </a:rPr>
              <a:t> 3 TAB NAVIGATION</a:t>
            </a:r>
            <a:endParaRPr lang="vi-VN" sz="5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925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69C0-5FDD-0D94-64E1-687A53A0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Hình nền Powerpoint Kinh Doanh Công Nghệ Điện Tử Mát Mẻ miễn phí -  Slidesdocs">
            <a:extLst>
              <a:ext uri="{FF2B5EF4-FFF2-40B4-BE49-F238E27FC236}">
                <a16:creationId xmlns:a16="http://schemas.microsoft.com/office/drawing/2014/main" id="{8DC37388-01F4-925A-8460-98A7AD072F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2357718" cy="235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9224" name="Picture 8" descr="Top 50 Background Powerpoint công nghệ đẹp nhất cho bài thuyết trình | ADV  Solutions">
            <a:extLst>
              <a:ext uri="{FF2B5EF4-FFF2-40B4-BE49-F238E27FC236}">
                <a16:creationId xmlns:a16="http://schemas.microsoft.com/office/drawing/2014/main" id="{B6234830-DE9E-39AC-0345-AB66D965B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A9A0AD-4903-5370-91FF-16CBDAC650A5}"/>
              </a:ext>
            </a:extLst>
          </p:cNvPr>
          <p:cNvSpPr txBox="1"/>
          <p:nvPr/>
        </p:nvSpPr>
        <p:spPr>
          <a:xfrm>
            <a:off x="211911" y="918882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Objective: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EFC65-46AC-9E9C-DBF3-6044535C1CC8}"/>
              </a:ext>
            </a:extLst>
          </p:cNvPr>
          <p:cNvSpPr txBox="1"/>
          <p:nvPr/>
        </p:nvSpPr>
        <p:spPr>
          <a:xfrm>
            <a:off x="674155" y="1614067"/>
            <a:ext cx="49615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Helps users share photos and move between main sections of the app.</a:t>
            </a:r>
            <a:endParaRPr lang="vi-V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B1FFC0-806D-D2CE-9D8A-273D88488F3B}"/>
              </a:ext>
            </a:extLst>
          </p:cNvPr>
          <p:cNvSpPr txBox="1"/>
          <p:nvPr/>
        </p:nvSpPr>
        <p:spPr>
          <a:xfrm>
            <a:off x="211911" y="2321953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Main content: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FC2563-79C1-A6B9-4122-823A1BB3E113}"/>
              </a:ext>
            </a:extLst>
          </p:cNvPr>
          <p:cNvSpPr txBox="1"/>
          <p:nvPr/>
        </p:nvSpPr>
        <p:spPr>
          <a:xfrm>
            <a:off x="674154" y="3048531"/>
            <a:ext cx="51772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Share photo:</a:t>
            </a:r>
          </a:p>
          <a:p>
            <a:r>
              <a:rPr lang="en-US" dirty="0">
                <a:solidFill>
                  <a:schemeClr val="bg1"/>
                </a:solidFill>
              </a:rPr>
              <a:t>        + Use </a:t>
            </a:r>
            <a:r>
              <a:rPr lang="en-US" dirty="0" err="1">
                <a:solidFill>
                  <a:schemeClr val="bg1"/>
                </a:solidFill>
              </a:rPr>
              <a:t>share_plus</a:t>
            </a:r>
            <a:r>
              <a:rPr lang="en-US" dirty="0">
                <a:solidFill>
                  <a:schemeClr val="bg1"/>
                </a:solidFill>
              </a:rPr>
              <a:t> library to send photos out.</a:t>
            </a:r>
          </a:p>
          <a:p>
            <a:r>
              <a:rPr lang="en-US" dirty="0">
                <a:solidFill>
                  <a:schemeClr val="bg1"/>
                </a:solidFill>
              </a:rPr>
              <a:t>        + _</a:t>
            </a:r>
            <a:r>
              <a:rPr lang="en-US" dirty="0" err="1">
                <a:solidFill>
                  <a:schemeClr val="bg1"/>
                </a:solidFill>
              </a:rPr>
              <a:t>shareSelected</a:t>
            </a:r>
            <a:r>
              <a:rPr lang="en-US" dirty="0">
                <a:solidFill>
                  <a:schemeClr val="bg1"/>
                </a:solidFill>
              </a:rPr>
              <a:t>(): share multiple photos at once.</a:t>
            </a:r>
          </a:p>
          <a:p>
            <a:r>
              <a:rPr lang="en-US" dirty="0">
                <a:solidFill>
                  <a:schemeClr val="bg1"/>
                </a:solidFill>
              </a:rPr>
              <a:t>        + _</a:t>
            </a:r>
            <a:r>
              <a:rPr lang="en-US" dirty="0" err="1">
                <a:solidFill>
                  <a:schemeClr val="bg1"/>
                </a:solidFill>
              </a:rPr>
              <a:t>shareCurrent</a:t>
            </a:r>
            <a:r>
              <a:rPr lang="en-US" dirty="0">
                <a:solidFill>
                  <a:schemeClr val="bg1"/>
                </a:solidFill>
              </a:rPr>
              <a:t>(): share an image being viewed.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Navigation: </a:t>
            </a:r>
          </a:p>
          <a:p>
            <a:r>
              <a:rPr lang="en-US" dirty="0">
                <a:solidFill>
                  <a:schemeClr val="bg1"/>
                </a:solidFill>
              </a:rPr>
              <a:t>        + </a:t>
            </a:r>
            <a:r>
              <a:rPr lang="en-US" dirty="0" err="1">
                <a:solidFill>
                  <a:schemeClr val="bg1"/>
                </a:solidFill>
              </a:rPr>
              <a:t>main.dart</a:t>
            </a:r>
            <a:r>
              <a:rPr lang="en-US" dirty="0">
                <a:solidFill>
                  <a:schemeClr val="bg1"/>
                </a:solidFill>
              </a:rPr>
              <a:t> uses </a:t>
            </a:r>
            <a:r>
              <a:rPr lang="en-US" dirty="0" err="1">
                <a:solidFill>
                  <a:schemeClr val="bg1"/>
                </a:solidFill>
              </a:rPr>
              <a:t>NavigationBar</a:t>
            </a:r>
            <a:r>
              <a:rPr lang="en-US" dirty="0">
                <a:solidFill>
                  <a:schemeClr val="bg1"/>
                </a:solidFill>
              </a:rPr>
              <a:t> with 3 main tabs:</a:t>
            </a:r>
          </a:p>
          <a:p>
            <a:r>
              <a:rPr lang="en-US" dirty="0">
                <a:solidFill>
                  <a:schemeClr val="bg1"/>
                </a:solidFill>
              </a:rPr>
              <a:t>           1️⃣ Cameras – take photos</a:t>
            </a:r>
          </a:p>
          <a:p>
            <a:r>
              <a:rPr lang="en-US" dirty="0">
                <a:solidFill>
                  <a:schemeClr val="bg1"/>
                </a:solidFill>
              </a:rPr>
              <a:t>           2️⃣ Playback – view photos</a:t>
            </a:r>
          </a:p>
          <a:p>
            <a:r>
              <a:rPr lang="en-US" dirty="0">
                <a:solidFill>
                  <a:schemeClr val="bg1"/>
                </a:solidFill>
              </a:rPr>
              <a:t>           3️⃣ Settings – settings</a:t>
            </a:r>
          </a:p>
          <a:p>
            <a:r>
              <a:rPr lang="en-US" dirty="0">
                <a:solidFill>
                  <a:schemeClr val="bg1"/>
                </a:solidFill>
              </a:rPr>
              <a:t>        + or change tab with </a:t>
            </a:r>
            <a:r>
              <a:rPr lang="en-US" dirty="0" err="1">
                <a:solidFill>
                  <a:schemeClr val="bg1"/>
                </a:solidFill>
              </a:rPr>
              <a:t>setState</a:t>
            </a:r>
            <a:r>
              <a:rPr lang="en-US" dirty="0">
                <a:solidFill>
                  <a:schemeClr val="bg1"/>
                </a:solidFill>
              </a:rPr>
              <a:t>() and _index.</a:t>
            </a:r>
            <a:endParaRPr lang="vi-VN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34A064-A9F2-E89D-50CB-D2BFF0312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907" y="1037920"/>
            <a:ext cx="2165507" cy="47821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C88095-BC25-DF13-A652-96ED29034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798" y="952523"/>
            <a:ext cx="2173202" cy="4782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D3149B-64BE-9F6D-26EE-CAF569E855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90" y="1009655"/>
            <a:ext cx="2096875" cy="478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92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4FEFF-AC4E-F743-1BF1-0551272B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00+ hình nền PowerPoint tin học đẹp, chất lượng cao">
            <a:extLst>
              <a:ext uri="{FF2B5EF4-FFF2-40B4-BE49-F238E27FC236}">
                <a16:creationId xmlns:a16="http://schemas.microsoft.com/office/drawing/2014/main" id="{EFEA3C18-C82C-C147-1361-E0C31516A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98E61C-A21B-BC51-FBD3-72CE7FBA736C}"/>
              </a:ext>
            </a:extLst>
          </p:cNvPr>
          <p:cNvSpPr txBox="1"/>
          <p:nvPr/>
        </p:nvSpPr>
        <p:spPr>
          <a:xfrm>
            <a:off x="2848535" y="2228671"/>
            <a:ext cx="649493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5000" b="1" dirty="0">
                <a:solidFill>
                  <a:schemeClr val="bg1"/>
                </a:solidFill>
              </a:rPr>
              <a:t>#5. </a:t>
            </a:r>
            <a:r>
              <a:rPr lang="en-US" sz="5000" b="1" dirty="0">
                <a:solidFill>
                  <a:schemeClr val="bg1"/>
                </a:solidFill>
              </a:rPr>
              <a:t>GLOBAL STATE MANAGEMENT (APPSTATE/PROVIDER)</a:t>
            </a:r>
            <a:endParaRPr lang="vi-VN" sz="5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33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466CB-A437-EAD2-FB7B-0129FF77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Hình nền Powerpoint Kinh Doanh Công Nghệ Điện Tử Mát Mẻ miễn phí -  Slidesdocs">
            <a:extLst>
              <a:ext uri="{FF2B5EF4-FFF2-40B4-BE49-F238E27FC236}">
                <a16:creationId xmlns:a16="http://schemas.microsoft.com/office/drawing/2014/main" id="{833CFE4A-D436-FE4A-1CB0-4259AA8A6C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2357718" cy="235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9224" name="Picture 8" descr="Top 50 Background Powerpoint công nghệ đẹp nhất cho bài thuyết trình | ADV  Solutions">
            <a:extLst>
              <a:ext uri="{FF2B5EF4-FFF2-40B4-BE49-F238E27FC236}">
                <a16:creationId xmlns:a16="http://schemas.microsoft.com/office/drawing/2014/main" id="{9113259D-5815-59BF-B359-A5E94F976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E1F459-1AD5-3E47-42E9-A40DA4BE3614}"/>
              </a:ext>
            </a:extLst>
          </p:cNvPr>
          <p:cNvSpPr txBox="1"/>
          <p:nvPr/>
        </p:nvSpPr>
        <p:spPr>
          <a:xfrm>
            <a:off x="130709" y="596206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Objective: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FAA26-7475-359F-C5D5-8BE9DBBEC735}"/>
              </a:ext>
            </a:extLst>
          </p:cNvPr>
          <p:cNvSpPr txBox="1"/>
          <p:nvPr/>
        </p:nvSpPr>
        <p:spPr>
          <a:xfrm>
            <a:off x="592952" y="1291391"/>
            <a:ext cx="57060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Sync and manage shared data between screens in your app.</a:t>
            </a:r>
            <a:endParaRPr lang="vi-VN" sz="20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15FE4-8C39-081E-3287-89CADC8A5675}"/>
              </a:ext>
            </a:extLst>
          </p:cNvPr>
          <p:cNvSpPr txBox="1"/>
          <p:nvPr/>
        </p:nvSpPr>
        <p:spPr>
          <a:xfrm>
            <a:off x="130709" y="1999277"/>
            <a:ext cx="55894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chemeClr val="bg1"/>
                </a:solidFill>
              </a:rPr>
              <a:t>Main content: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EF844-A925-5108-4D3E-C48F49E4F869}"/>
              </a:ext>
            </a:extLst>
          </p:cNvPr>
          <p:cNvSpPr txBox="1"/>
          <p:nvPr/>
        </p:nvSpPr>
        <p:spPr>
          <a:xfrm>
            <a:off x="592952" y="2725855"/>
            <a:ext cx="61587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Dark Mode: allows users to switch between light and dark interfaces, globally managed via </a:t>
            </a:r>
            <a:r>
              <a:rPr lang="en-US" dirty="0" err="1">
                <a:solidFill>
                  <a:schemeClr val="bg1"/>
                </a:solidFill>
              </a:rPr>
              <a:t>AppState</a:t>
            </a:r>
            <a:r>
              <a:rPr lang="en-US" dirty="0">
                <a:solidFill>
                  <a:schemeClr val="bg1"/>
                </a:solidFill>
              </a:rPr>
              <a:t> and updated instantly using Provider.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Main file: </a:t>
            </a:r>
            <a:r>
              <a:rPr lang="en-US" dirty="0" err="1">
                <a:solidFill>
                  <a:schemeClr val="bg1"/>
                </a:solidFill>
              </a:rPr>
              <a:t>app_state.dart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ChangeNotifier</a:t>
            </a:r>
            <a:r>
              <a:rPr lang="en-US" dirty="0">
                <a:solidFill>
                  <a:schemeClr val="bg1"/>
                </a:solidFill>
              </a:rPr>
              <a:t>) ​​and </a:t>
            </a:r>
            <a:r>
              <a:rPr lang="en-US" dirty="0" err="1">
                <a:solidFill>
                  <a:schemeClr val="bg1"/>
                </a:solidFill>
              </a:rPr>
              <a:t>main.dart</a:t>
            </a:r>
            <a:r>
              <a:rPr lang="en-US" dirty="0">
                <a:solidFill>
                  <a:schemeClr val="bg1"/>
                </a:solidFill>
              </a:rPr>
              <a:t> (Provider).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Managed variables: </a:t>
            </a:r>
            <a:r>
              <a:rPr lang="en-US" dirty="0" err="1">
                <a:solidFill>
                  <a:schemeClr val="bg1"/>
                </a:solidFill>
              </a:rPr>
              <a:t>darkMode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serverUrl</a:t>
            </a:r>
            <a:r>
              <a:rPr lang="en-US" dirty="0">
                <a:solidFill>
                  <a:schemeClr val="bg1"/>
                </a:solidFill>
              </a:rPr>
              <a:t>, cameras, username, </a:t>
            </a:r>
            <a:r>
              <a:rPr lang="en-US" dirty="0" err="1">
                <a:solidFill>
                  <a:schemeClr val="bg1"/>
                </a:solidFill>
              </a:rPr>
              <a:t>loggedIn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How it works:</a:t>
            </a:r>
          </a:p>
          <a:p>
            <a:r>
              <a:rPr lang="en-US" dirty="0">
                <a:solidFill>
                  <a:schemeClr val="bg1"/>
                </a:solidFill>
              </a:rPr>
              <a:t>        + Provide </a:t>
            </a:r>
            <a:r>
              <a:rPr lang="en-US" dirty="0" err="1">
                <a:solidFill>
                  <a:schemeClr val="bg1"/>
                </a:solidFill>
              </a:rPr>
              <a:t>AppState</a:t>
            </a:r>
            <a:r>
              <a:rPr lang="en-US" dirty="0">
                <a:solidFill>
                  <a:schemeClr val="bg1"/>
                </a:solidFill>
              </a:rPr>
              <a:t> at root via </a:t>
            </a:r>
            <a:r>
              <a:rPr lang="en-US" dirty="0" err="1">
                <a:solidFill>
                  <a:schemeClr val="bg1"/>
                </a:solidFill>
              </a:rPr>
              <a:t>ChangeNotifierProvider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        + Use </a:t>
            </a:r>
            <a:r>
              <a:rPr lang="en-US" dirty="0" err="1">
                <a:solidFill>
                  <a:schemeClr val="bg1"/>
                </a:solidFill>
              </a:rPr>
              <a:t>context.watch</a:t>
            </a:r>
            <a:r>
              <a:rPr lang="en-US" dirty="0">
                <a:solidFill>
                  <a:schemeClr val="bg1"/>
                </a:solidFill>
              </a:rPr>
              <a:t>() to read and </a:t>
            </a:r>
            <a:r>
              <a:rPr lang="en-US" dirty="0" err="1">
                <a:solidFill>
                  <a:schemeClr val="bg1"/>
                </a:solidFill>
              </a:rPr>
              <a:t>context.read</a:t>
            </a:r>
            <a:r>
              <a:rPr lang="en-US" dirty="0">
                <a:solidFill>
                  <a:schemeClr val="bg1"/>
                </a:solidFill>
              </a:rPr>
              <a:t>() to update data.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Application: </a:t>
            </a:r>
          </a:p>
          <a:p>
            <a:r>
              <a:rPr lang="en-US" dirty="0">
                <a:solidFill>
                  <a:schemeClr val="bg1"/>
                </a:solidFill>
              </a:rPr>
              <a:t>        + </a:t>
            </a:r>
            <a:r>
              <a:rPr lang="en-US" dirty="0" err="1">
                <a:solidFill>
                  <a:schemeClr val="bg1"/>
                </a:solidFill>
              </a:rPr>
              <a:t>CamerasPage</a:t>
            </a:r>
            <a:r>
              <a:rPr lang="en-US" dirty="0">
                <a:solidFill>
                  <a:schemeClr val="bg1"/>
                </a:solidFill>
              </a:rPr>
              <a:t> gets the list of cameras.</a:t>
            </a:r>
          </a:p>
          <a:p>
            <a:r>
              <a:rPr lang="en-US" dirty="0">
                <a:solidFill>
                  <a:schemeClr val="bg1"/>
                </a:solidFill>
              </a:rPr>
              <a:t>        + </a:t>
            </a:r>
            <a:r>
              <a:rPr lang="en-US" dirty="0" err="1">
                <a:solidFill>
                  <a:schemeClr val="bg1"/>
                </a:solidFill>
              </a:rPr>
              <a:t>SettingsPage</a:t>
            </a:r>
            <a:r>
              <a:rPr lang="en-US" dirty="0">
                <a:solidFill>
                  <a:schemeClr val="bg1"/>
                </a:solidFill>
              </a:rPr>
              <a:t> changes Dark Mode.</a:t>
            </a:r>
            <a:endParaRPr lang="vi-VN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ADD5E9-C285-49DD-8A30-24288E7A4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013" y="699157"/>
            <a:ext cx="2567936" cy="5553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C9F6B1-F71E-E6B2-8A9E-63B50C7EF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228" y="652046"/>
            <a:ext cx="2604785" cy="564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08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D1EC7-AF14-95DD-0407-143FCAA1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00+ hình nền PowerPoint tin học đẹp, chất lượng cao">
            <a:extLst>
              <a:ext uri="{FF2B5EF4-FFF2-40B4-BE49-F238E27FC236}">
                <a16:creationId xmlns:a16="http://schemas.microsoft.com/office/drawing/2014/main" id="{C483018A-8992-6571-BA9F-101AAEB14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FFF941-8D02-5496-5B93-1B748475C189}"/>
              </a:ext>
            </a:extLst>
          </p:cNvPr>
          <p:cNvSpPr txBox="1"/>
          <p:nvPr/>
        </p:nvSpPr>
        <p:spPr>
          <a:xfrm>
            <a:off x="2848535" y="2613392"/>
            <a:ext cx="64949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</a:rPr>
              <a:t>FUTURE SOFTWARE DEVELOPMENT</a:t>
            </a:r>
            <a:endParaRPr lang="vi-VN" sz="5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395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37E56-A09F-DD10-57EA-6046ADF4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4" name="Picture 8" descr="Top 50 Background Powerpoint công nghệ đẹp nhất cho bài thuyết trình | ADV  Solutions">
            <a:extLst>
              <a:ext uri="{FF2B5EF4-FFF2-40B4-BE49-F238E27FC236}">
                <a16:creationId xmlns:a16="http://schemas.microsoft.com/office/drawing/2014/main" id="{64BDE79A-12AC-A05B-D204-EF5300D48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16F9BB-7DE2-B30C-2615-33938D00A932}"/>
              </a:ext>
            </a:extLst>
          </p:cNvPr>
          <p:cNvSpPr txBox="1"/>
          <p:nvPr/>
        </p:nvSpPr>
        <p:spPr>
          <a:xfrm>
            <a:off x="485271" y="1669226"/>
            <a:ext cx="71658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FUTURE SOFTWARE DEVELOPMENT</a:t>
            </a:r>
            <a:endParaRPr lang="vi-VN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CD17AF-AF5C-1B39-FF9F-8B5E8AE88182}"/>
              </a:ext>
            </a:extLst>
          </p:cNvPr>
          <p:cNvSpPr txBox="1"/>
          <p:nvPr/>
        </p:nvSpPr>
        <p:spPr>
          <a:xfrm>
            <a:off x="485271" y="2394953"/>
            <a:ext cx="6162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1. ☁️ Save photos and videos to the Cloud (Cloud Sync)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630F9-C2D7-A7DD-EA15-622BA7776975}"/>
              </a:ext>
            </a:extLst>
          </p:cNvPr>
          <p:cNvSpPr txBox="1"/>
          <p:nvPr/>
        </p:nvSpPr>
        <p:spPr>
          <a:xfrm>
            <a:off x="485271" y="2909902"/>
            <a:ext cx="6162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2. 🧠 Face / Motion Recognition (AI Detection)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96C420-E8C6-472D-17F1-689AE9525157}"/>
              </a:ext>
            </a:extLst>
          </p:cNvPr>
          <p:cNvSpPr txBox="1"/>
          <p:nvPr/>
        </p:nvSpPr>
        <p:spPr>
          <a:xfrm>
            <a:off x="485271" y="3424851"/>
            <a:ext cx="7744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3. 🖥️ Remote control and viewing (Remote Access via Web or App Link)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AD3142-707B-7359-7B33-E45347681D68}"/>
              </a:ext>
            </a:extLst>
          </p:cNvPr>
          <p:cNvSpPr txBox="1"/>
          <p:nvPr/>
        </p:nvSpPr>
        <p:spPr>
          <a:xfrm>
            <a:off x="485271" y="3935135"/>
            <a:ext cx="6781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4. </a:t>
            </a:r>
            <a:r>
              <a:rPr lang="vi-VN" b="1" dirty="0"/>
              <a:t>🤖 </a:t>
            </a:r>
            <a:r>
              <a:rPr lang="vi-VN" dirty="0">
                <a:solidFill>
                  <a:schemeClr val="bg1"/>
                </a:solidFill>
              </a:rPr>
              <a:t>Object detection and smart warning (AI Object Detection)</a:t>
            </a:r>
          </a:p>
        </p:txBody>
      </p:sp>
    </p:spTree>
    <p:extLst>
      <p:ext uri="{BB962C8B-B14F-4D97-AF65-F5344CB8AC3E}">
        <p14:creationId xmlns:p14="http://schemas.microsoft.com/office/powerpoint/2010/main" val="4202081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Tải miễn phí mẫu Thiết Kế Mẫu Ppt Internet Công Nghệ Xanh đen PowerPoint  định dạng PPTX - Pikbest">
            <a:extLst>
              <a:ext uri="{FF2B5EF4-FFF2-40B4-BE49-F238E27FC236}">
                <a16:creationId xmlns:a16="http://schemas.microsoft.com/office/drawing/2014/main" id="{50784FE0-B34A-86CB-61F4-1E96E2C199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sp>
        <p:nvSpPr>
          <p:cNvPr id="6" name="AutoShape 6" descr="Tải miễn phí mẫu Cảm Giác đơn Giản Về Tổng Kết Cuối Năm Khoa Học Và Công  Nghệ Ppt PowerPoint định dạng PPTX - Pikbest">
            <a:extLst>
              <a:ext uri="{FF2B5EF4-FFF2-40B4-BE49-F238E27FC236}">
                <a16:creationId xmlns:a16="http://schemas.microsoft.com/office/drawing/2014/main" id="{9369632C-5DDA-A888-45B0-8B91452954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sp>
        <p:nvSpPr>
          <p:cNvPr id="7" name="AutoShape 8" descr="Tải miễn phí mẫu Cảm Giác đơn Giản Về Tổng Kết Cuối Năm Khoa Học Và Công  Nghệ Ppt PowerPoint định dạng PPTX - Pikbest">
            <a:extLst>
              <a:ext uri="{FF2B5EF4-FFF2-40B4-BE49-F238E27FC236}">
                <a16:creationId xmlns:a16="http://schemas.microsoft.com/office/drawing/2014/main" id="{C053F0BA-D8A4-3D29-166F-FAB4997546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sp>
        <p:nvSpPr>
          <p:cNvPr id="8" name="AutoShape 10" descr="Modèle Ppt Général De Promotion De Plan De Financement à Risque De Style  Commercial | PPTX PowerPoint Téléchargement Gratuit - Pikbest">
            <a:extLst>
              <a:ext uri="{FF2B5EF4-FFF2-40B4-BE49-F238E27FC236}">
                <a16:creationId xmlns:a16="http://schemas.microsoft.com/office/drawing/2014/main" id="{7CA4DD52-ABF9-F865-F555-9A066BA75D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vi-VN"/>
          </a:p>
        </p:txBody>
      </p:sp>
      <p:pic>
        <p:nvPicPr>
          <p:cNvPr id="10252" name="Picture 12" descr="100+ hình nền slide thank you for watching cảm ơn cuối slide">
            <a:extLst>
              <a:ext uri="{FF2B5EF4-FFF2-40B4-BE49-F238E27FC236}">
                <a16:creationId xmlns:a16="http://schemas.microsoft.com/office/drawing/2014/main" id="{DC1F691A-E560-E43E-6B39-05600983C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036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</TotalTime>
  <Words>703</Words>
  <Application>Microsoft Office PowerPoint</Application>
  <PresentationFormat>Widescreen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Rounded MT Bold</vt:lpstr>
      <vt:lpstr>Berlin Sans FB Demi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tan</dc:creator>
  <cp:lastModifiedBy>nguyen tan</cp:lastModifiedBy>
  <cp:revision>4</cp:revision>
  <dcterms:created xsi:type="dcterms:W3CDTF">2025-10-17T10:52:08Z</dcterms:created>
  <dcterms:modified xsi:type="dcterms:W3CDTF">2025-10-18T06:56:01Z</dcterms:modified>
</cp:coreProperties>
</file>